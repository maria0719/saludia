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 (apertura).
"Buenas, somos el equipo SaludIA. Les vamos a mostrar cómo se puede predecir un brote de dengue o malaria ANTES de que ocurra." Preséntate breve y pasa al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 (enganche).
Gancho fuerte: "En Colombia el dengue y la malaria enferman a más de cien mil personas al año. El problema no es solo la enfermedad: es que el sistema REACCIONA cuando ya hay miles de contagiados. Para cuando llega la alerta, el brote ya explotó."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 → entrega a Kevin.
"Se reacciona tarde por tres razones: los datos llegan tarde, no se cruzan las variables, y nadie mide qué tan preparada está cada zona. Resultado: se pierden semanas que podrían salvar vidas. Y ahí entra nuestra solución — Kevin les cuenta."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 (puente hacia la solución) — o Kevin al recibir.
Lee la pregunta con calma, marcando "una semana de adelanto". "Este fue exactamente el reto que nos pusieron. Y esta pregunta guió cada decisión que tomamos. Así la resolvimos." (pasa a la solución)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Kevin.
"Construimos SaludIA. La frase clave: no solo predecimos dónde habrá brote, sino dónde el sistema NO está listo. Funciona en tres capas: primero un modelo de IA predice casos; segundo, un índice mide la vulnerabilidad de cada zona; y tercero, un motor cruza ambas y genera una alerta tipo semáforo, con explicación."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Kevin → entrega a María José.
"El flujo es simple: tomamos datos públicos del INS y el IDEAM, el modelo predice casos, se cruza con el índice de vulnerabilidad, el motor genera las alertas y todo se ve en un dashboard. Y no es una maqueta: está desplegado y funcionando. Majo les cuenta qué logramos."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María José.
"Esto no es solo una idea: es un prototipo funcional. Cubrimos 855 municipios, dos enfermedades, generamos 924 alertas en vivo, y el modelo tiene un R² de 0.87, buena precisión. Todo integrado y ya desplegado en internet. Y lo mejor es que se los podemos mostrar AHORA mismo." (transición a la demo)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Valeria (DEMO — ~5 min).
Abre la URL YA despierta. Recorrido sugerido:
1) Mapa: cambia el filtro Dengue/Malaria, muestra los departamentos coloreados y el conteo de alertas.
2) Top Riesgo: señala Quibdó, Tibú, etc.
3) Predicción: entra a un municipio y muestra los casos previstos.
4) Anomalías y Datos: pásalas rápido.
Cierra la demo: "Todo esto sale del modelo real, en vivo." Devuelve la palabra para el 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María José (después de la demo).
"Una alerta con dos o tres semanas de anticipación permite reforzar vacunación, preposicionar insumos, mover personal y avisar a la comunidad. Convertimos un modelo técnico en una herramienta real de decisión."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Kevin.
"¿Por qué esto gana? Lo típico es una enfermedad, solo clima, caja negra y un notebook. Nosotros: multi-enfermedad, cruzamos todas las variables, cada alerta se explica, y está desplegado y usando exactamente los datos que pedía el reto."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HABLA: Nicolás (cierre).
"SaludIA convierte datos de salud pública en decisiones que llegan a tiempo — de reaccionar a anticipar. Gracias." Deja la URL en pantalla para las preguntas del jurado.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2.png"/><Relationship Id="rId7" Type="http://schemas.openxmlformats.org/officeDocument/2006/relationships/image" Target="../media/image-6-7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95560" y="640080"/>
            <a:ext cx="256032" cy="256032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" name="Shape 1"/>
          <p:cNvSpPr/>
          <p:nvPr/>
        </p:nvSpPr>
        <p:spPr>
          <a:xfrm>
            <a:off x="10579608" y="640080"/>
            <a:ext cx="256032" cy="256032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10963656" y="640080"/>
            <a:ext cx="256032" cy="256032"/>
          </a:xfrm>
          <a:prstGeom prst="ellipse">
            <a:avLst/>
          </a:prstGeom>
          <a:solidFill>
            <a:srgbClr val="F2B90C"/>
          </a:solidFill>
          <a:ln/>
        </p:spPr>
      </p:sp>
      <p:sp>
        <p:nvSpPr>
          <p:cNvPr id="5" name="Shape 3"/>
          <p:cNvSpPr/>
          <p:nvPr/>
        </p:nvSpPr>
        <p:spPr>
          <a:xfrm>
            <a:off x="11347704" y="640080"/>
            <a:ext cx="256032" cy="256032"/>
          </a:xfrm>
          <a:prstGeom prst="ellipse">
            <a:avLst/>
          </a:prstGeom>
          <a:solidFill>
            <a:srgbClr val="2FA96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pPr algn="l" indent="0" marL="0">
              <a:buNone/>
            </a:pPr>
            <a:r>
              <a:rPr lang="en-US" sz="8000" b="1" dirty="0">
                <a:solidFill>
                  <a:srgbClr val="27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841248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27C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Predecir el brote antes de que ocurra.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59536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alerta temprana de Dengue y Malaria · Colombia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" y="5806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  </a:t>
            </a:r>
            <a:pPr algn="l" indent="0" marL="0">
              <a:buNone/>
            </a:pPr>
            <a:r>
              <a:rPr lang="en-US" sz="1400" dirty="0">
                <a:solidFill>
                  <a:srgbClr val="E6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· Kevin · María José · Valeria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9536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Reto: Salud y Bienestar — Competencia de Inteligencia Artificial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27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11430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brote se detecta</a:t>
            </a:r>
            <a:endParaRPr lang="en-US" sz="52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ya es tarde.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14335A"/>
          </a:solidFill>
          <a:ln w="12700">
            <a:solidFill>
              <a:srgbClr val="2750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34840" y="35204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14335A"/>
          </a:solidFill>
          <a:ln w="12700">
            <a:solidFill>
              <a:srgbClr val="2750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3520440"/>
            <a:ext cx="3291840" cy="2331720"/>
          </a:xfrm>
          <a:prstGeom prst="roundRect">
            <a:avLst>
              <a:gd name="adj" fmla="val 4706"/>
            </a:avLst>
          </a:prstGeom>
          <a:solidFill>
            <a:srgbClr val="14335A"/>
          </a:solidFill>
          <a:ln w="12700">
            <a:solidFill>
              <a:srgbClr val="2750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856" y="3767328"/>
            <a:ext cx="749808" cy="749808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8" name="Image 0" descr="assets/ic_activ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1308" y="3954780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+100.000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115568" y="52303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dengue en un año epidémico en Colombia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745736" y="3767328"/>
            <a:ext cx="749808" cy="749808"/>
          </a:xfrm>
          <a:prstGeom prst="ellipse">
            <a:avLst/>
          </a:prstGeom>
          <a:solidFill>
            <a:srgbClr val="FF7A1A"/>
          </a:solidFill>
          <a:ln/>
        </p:spPr>
      </p:sp>
      <p:pic>
        <p:nvPicPr>
          <p:cNvPr id="12" name="Image 1" descr="assets/ic_p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188" y="3954780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~80.000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727448" y="52303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malaria al año, concentrados en zonas apartadas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357616" y="3767328"/>
            <a:ext cx="749808" cy="749808"/>
          </a:xfrm>
          <a:prstGeom prst="ellipse">
            <a:avLst/>
          </a:prstGeom>
          <a:solidFill>
            <a:srgbClr val="F2B90C"/>
          </a:solidFill>
          <a:ln/>
        </p:spPr>
      </p:sp>
      <p:pic>
        <p:nvPicPr>
          <p:cNvPr id="16" name="Image 2" descr="assets/ic_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3954780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Semanas</a:t>
            </a:r>
            <a:endParaRPr lang="en-US" sz="3400" dirty="0"/>
          </a:p>
        </p:txBody>
      </p:sp>
      <p:sp>
        <p:nvSpPr>
          <p:cNvPr id="18" name="Text 13"/>
          <p:cNvSpPr/>
          <p:nvPr/>
        </p:nvSpPr>
        <p:spPr>
          <a:xfrm>
            <a:off x="8339328" y="52303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retraso entre el contagio y la reacción del sistema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1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 REACCIONA TARDE?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109728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5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de salud reacciona, no se anticipa.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337560" cy="27432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606040"/>
            <a:ext cx="786384" cy="786384"/>
          </a:xfrm>
          <a:prstGeom prst="ellipse">
            <a:avLst/>
          </a:prstGeom>
          <a:solidFill>
            <a:srgbClr val="E4EEF6"/>
          </a:solidFill>
          <a:ln/>
        </p:spPr>
      </p:sp>
      <p:pic>
        <p:nvPicPr>
          <p:cNvPr id="6" name="Image 0" descr="assets/ic_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2802636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llegan tarde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33856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se reportan con días o semanas de retraso.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34840" y="2286000"/>
            <a:ext cx="3337560" cy="27432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606040"/>
            <a:ext cx="786384" cy="786384"/>
          </a:xfrm>
          <a:prstGeom prst="ellipse">
            <a:avLst/>
          </a:prstGeom>
          <a:solidFill>
            <a:srgbClr val="E4EEF6"/>
          </a:solidFill>
          <a:ln/>
        </p:spPr>
      </p:sp>
      <p:pic>
        <p:nvPicPr>
          <p:cNvPr id="11" name="Image 1" descr="assets/ic_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2802636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7448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cruzan variables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45736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Clima, vacunación y ambiente se miran por separado, no juntos.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2286000"/>
            <a:ext cx="3337560" cy="274320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606040"/>
            <a:ext cx="786384" cy="786384"/>
          </a:xfrm>
          <a:prstGeom prst="ellipse">
            <a:avLst/>
          </a:prstGeom>
          <a:solidFill>
            <a:srgbClr val="E4EEF6"/>
          </a:solidFill>
          <a:ln/>
        </p:spPr>
      </p:sp>
      <p:pic>
        <p:nvPicPr>
          <p:cNvPr id="16" name="Image 2" descr="assets/ic_shield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56" y="2802636"/>
            <a:ext cx="393192" cy="3931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3566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mide la vulnerabilidad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57616" y="411480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sabe qué zonas están menos preparadas para responder.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pPr algn="l" indent="0" marL="0">
              <a:buNone/>
            </a:pPr>
            <a:r>
              <a:rPr lang="en-US" sz="19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pierden semanas críticas de prevención.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27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INVESTIGACIÓN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1F48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554480" y="1965960"/>
            <a:ext cx="9509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anticipar, con una semana de adelanto, el riesgo de brote de Dengue o Malaria a nivel municipal en Colombia — usando historial de casos, población y variables ambientales de fuentes abiertas?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72768" y="5806440"/>
            <a:ext cx="118872" cy="118872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6" name="Shape 4"/>
          <p:cNvSpPr/>
          <p:nvPr/>
        </p:nvSpPr>
        <p:spPr>
          <a:xfrm>
            <a:off x="1792224" y="5806440"/>
            <a:ext cx="118872" cy="118872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0" y="5806440"/>
            <a:ext cx="118872" cy="118872"/>
          </a:xfrm>
          <a:prstGeom prst="ellipse">
            <a:avLst/>
          </a:prstGeom>
          <a:solidFill>
            <a:srgbClr val="F2B90C"/>
          </a:solidFill>
          <a:ln/>
        </p:spPr>
      </p:sp>
      <p:sp>
        <p:nvSpPr>
          <p:cNvPr id="8" name="Shape 6"/>
          <p:cNvSpPr/>
          <p:nvPr/>
        </p:nvSpPr>
        <p:spPr>
          <a:xfrm>
            <a:off x="2231136" y="5806440"/>
            <a:ext cx="118872" cy="118872"/>
          </a:xfrm>
          <a:prstGeom prst="ellipse">
            <a:avLst/>
          </a:prstGeom>
          <a:solidFill>
            <a:srgbClr val="2FA96A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5742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que guía todo nuestro sistema.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1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105156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solo predecimos </a:t>
            </a:r>
            <a:pPr algn="l" indent="0" marL="0">
              <a:lnSpc>
                <a:spcPct val="102000"/>
              </a:lnSpc>
              <a:buNone/>
            </a:pPr>
            <a:r>
              <a:rPr lang="en-US" sz="3000" b="1" i="1" dirty="0">
                <a:solidFill>
                  <a:srgbClr val="1FA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</a:t>
            </a:r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habrá un brote —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predecimos dónde el sistema </a:t>
            </a:r>
            <a:endParaRPr lang="en-US" sz="3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está listo</a:t>
            </a:r>
            <a:pPr algn="l"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15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responderlo.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880360"/>
            <a:ext cx="33375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3856" y="3200400"/>
            <a:ext cx="822960" cy="822960"/>
          </a:xfrm>
          <a:prstGeom prst="ellipse">
            <a:avLst/>
          </a:prstGeom>
          <a:solidFill>
            <a:srgbClr val="1FA98F"/>
          </a:solidFill>
          <a:ln/>
        </p:spPr>
      </p:sp>
      <p:pic>
        <p:nvPicPr>
          <p:cNvPr id="6" name="Image 0" descr="assets/ic_cpu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34061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3756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8E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133856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con IA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4754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entrenado estima cuántos casos habrá la próxima semana, por municipio.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34840" y="2880360"/>
            <a:ext cx="33375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45736" y="3200400"/>
            <a:ext cx="822960" cy="822960"/>
          </a:xfrm>
          <a:prstGeom prst="ellipse">
            <a:avLst/>
          </a:prstGeom>
          <a:solidFill>
            <a:srgbClr val="153D6B"/>
          </a:solidFill>
          <a:ln/>
        </p:spPr>
      </p:sp>
      <p:pic>
        <p:nvPicPr>
          <p:cNvPr id="12" name="Image 1" descr="assets/ic_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476" y="34061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8E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4745736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territorial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54880" y="4754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índice del 1 al 10 mide qué tan preparada está cada zona para enfrentar un brote.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46720" y="2880360"/>
            <a:ext cx="33375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7616" y="3200400"/>
            <a:ext cx="822960" cy="8229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8" name="Image 2" descr="assets/ic_sire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56" y="340614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61320" y="3108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D8E2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0" name="Text 15"/>
          <p:cNvSpPr/>
          <p:nvPr/>
        </p:nvSpPr>
        <p:spPr>
          <a:xfrm>
            <a:off x="8357616" y="4206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tipo semáforo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66760" y="47548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ambas y marca cada municipio: crítico, alto, medio o bajo, con su explicación.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27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datos públicos a una alerta accionable.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" y="28346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6365E"/>
          </a:solidFill>
          <a:ln w="12700">
            <a:solidFill>
              <a:srgbClr val="2B518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012" y="3090672"/>
            <a:ext cx="731520" cy="731520"/>
          </a:xfrm>
          <a:prstGeom prst="ellipse">
            <a:avLst/>
          </a:prstGeom>
          <a:solidFill>
            <a:srgbClr val="1F4877"/>
          </a:solidFill>
          <a:ln/>
        </p:spPr>
      </p:sp>
      <p:pic>
        <p:nvPicPr>
          <p:cNvPr id="6" name="Image 0" descr="assets/ic_d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1892" y="32735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389534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públicos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6656" y="429768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· IDEAM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casos, clima, aire</a:t>
            </a:r>
            <a:endParaRPr lang="en-US" sz="1100" dirty="0"/>
          </a:p>
        </p:txBody>
      </p:sp>
      <p:pic>
        <p:nvPicPr>
          <p:cNvPr id="9" name="Image 1" descr="assets/ic_arrow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464" y="3767328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43784" y="28346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6365E"/>
          </a:solidFill>
          <a:ln w="12700">
            <a:solidFill>
              <a:srgbClr val="2B5183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461004" y="3090672"/>
            <a:ext cx="731520" cy="731520"/>
          </a:xfrm>
          <a:prstGeom prst="ellipse">
            <a:avLst/>
          </a:prstGeom>
          <a:solidFill>
            <a:srgbClr val="1F4877"/>
          </a:solidFill>
          <a:ln/>
        </p:spPr>
      </p:sp>
      <p:pic>
        <p:nvPicPr>
          <p:cNvPr id="12" name="Image 2" descr="assets/ic_cpu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884" y="327355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98648" y="389534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IA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2898648" y="429768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 casos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próxima semana</a:t>
            </a:r>
            <a:endParaRPr lang="en-US" sz="1100" dirty="0"/>
          </a:p>
        </p:txBody>
      </p:sp>
      <p:pic>
        <p:nvPicPr>
          <p:cNvPr id="15" name="Image 3" descr="assets/ic_arrow_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3767328"/>
            <a:ext cx="274320" cy="27432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065776" y="28346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6365E"/>
          </a:solidFill>
          <a:ln w="12700">
            <a:solidFill>
              <a:srgbClr val="2B5183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5682996" y="3090672"/>
            <a:ext cx="731520" cy="731520"/>
          </a:xfrm>
          <a:prstGeom prst="ellipse">
            <a:avLst/>
          </a:prstGeom>
          <a:solidFill>
            <a:srgbClr val="1F4877"/>
          </a:solidFill>
          <a:ln/>
        </p:spPr>
      </p:sp>
      <p:pic>
        <p:nvPicPr>
          <p:cNvPr id="18" name="Image 4" descr="assets/ic_shiel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5876" y="3273552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120640" y="389534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5120640" y="429768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territorial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10</a:t>
            </a:r>
            <a:endParaRPr lang="en-US" sz="1100" dirty="0"/>
          </a:p>
        </p:txBody>
      </p:sp>
      <p:pic>
        <p:nvPicPr>
          <p:cNvPr id="21" name="Image 5" descr="assets/ic_arrow_te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3448" y="3767328"/>
            <a:ext cx="274320" cy="27432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287768" y="28346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6365E"/>
          </a:solidFill>
          <a:ln w="12700">
            <a:solidFill>
              <a:srgbClr val="2B5183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04988" y="3090672"/>
            <a:ext cx="731520" cy="731520"/>
          </a:xfrm>
          <a:prstGeom prst="ellipse">
            <a:avLst/>
          </a:prstGeom>
          <a:solidFill>
            <a:srgbClr val="1F4877"/>
          </a:solidFill>
          <a:ln/>
        </p:spPr>
      </p:sp>
      <p:pic>
        <p:nvPicPr>
          <p:cNvPr id="24" name="Image 6" descr="assets/ic_siren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7868" y="3273552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342632" y="389534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alertas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7342632" y="429768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 por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</a:t>
            </a:r>
            <a:endParaRPr lang="en-US" sz="1100" dirty="0"/>
          </a:p>
        </p:txBody>
      </p:sp>
      <p:pic>
        <p:nvPicPr>
          <p:cNvPr id="27" name="Image 7" descr="assets/ic_arrow_teal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5440" y="3767328"/>
            <a:ext cx="274320" cy="274320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9509760" y="283464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6365E"/>
          </a:solidFill>
          <a:ln w="12700">
            <a:solidFill>
              <a:srgbClr val="2B5183"/>
            </a:solidFill>
            <a:prstDash val="solid"/>
          </a:ln>
        </p:spPr>
      </p:sp>
      <p:sp>
        <p:nvSpPr>
          <p:cNvPr id="29" name="Shape 19"/>
          <p:cNvSpPr/>
          <p:nvPr/>
        </p:nvSpPr>
        <p:spPr>
          <a:xfrm>
            <a:off x="10126980" y="3090672"/>
            <a:ext cx="731520" cy="731520"/>
          </a:xfrm>
          <a:prstGeom prst="ellipse">
            <a:avLst/>
          </a:prstGeom>
          <a:solidFill>
            <a:srgbClr val="1FA98F"/>
          </a:solidFill>
          <a:ln/>
        </p:spPr>
      </p:sp>
      <p:pic>
        <p:nvPicPr>
          <p:cNvPr id="30" name="Image 8" descr="assets/ic_eye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09860" y="3273552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9564624" y="3895344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32" name="Text 21"/>
          <p:cNvSpPr/>
          <p:nvPr/>
        </p:nvSpPr>
        <p:spPr>
          <a:xfrm>
            <a:off x="9564624" y="4297680"/>
            <a:ext cx="1856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en vivo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explicación</a:t>
            </a:r>
            <a:endParaRPr lang="en-US" sz="1100" dirty="0"/>
          </a:p>
        </p:txBody>
      </p:sp>
      <p:sp>
        <p:nvSpPr>
          <p:cNvPr id="33" name="Text 22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27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conectado de punta a punta — y ya funcionando en la nube.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1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CONSTRUIMOS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prototipo real, no una idea en papel.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807208"/>
            <a:ext cx="310896" cy="310896"/>
          </a:xfrm>
          <a:prstGeom prst="ellipse">
            <a:avLst/>
          </a:prstGeom>
          <a:solidFill>
            <a:srgbClr val="153D6B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40487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5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855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749040" y="240487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municipios monitoreados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14884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807208"/>
            <a:ext cx="310896" cy="310896"/>
          </a:xfrm>
          <a:prstGeom prst="ellipse">
            <a:avLst/>
          </a:prstGeom>
          <a:solidFill>
            <a:srgbClr val="1FA98F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240487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FA9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9098280" y="240487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enfermedades: dengue y malaria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02336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43000" y="4681728"/>
            <a:ext cx="310896" cy="310896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4" name="Text 12"/>
          <p:cNvSpPr/>
          <p:nvPr/>
        </p:nvSpPr>
        <p:spPr>
          <a:xfrm>
            <a:off x="1600200" y="427939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924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3749040" y="427939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generadas en vivo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029200" cy="1645920"/>
          </a:xfrm>
          <a:prstGeom prst="roundRect">
            <a:avLst>
              <a:gd name="adj" fmla="val 6667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681728"/>
            <a:ext cx="310896" cy="310896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4279392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9098280" y="4279392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del modelo (buena precisión)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FA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algn="l"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+ índice + alertas + dashboard, integrados y desplegados en internet.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A9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972800" cy="5486400"/>
          </a:xfrm>
          <a:prstGeom prst="roundRect">
            <a:avLst>
              <a:gd name="adj" fmla="val 2667"/>
            </a:avLst>
          </a:prstGeom>
          <a:solidFill>
            <a:srgbClr val="0F8375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234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300" kern="0" dirty="0">
                <a:solidFill>
                  <a:srgbClr val="BFF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60704" y="169164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Míralo funcionando</a:t>
            </a:r>
            <a:endParaRPr lang="en-US" sz="48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tú mismo.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97280" y="37033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4F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riesgo, predicción por municipio y alertas en tiempo real.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4617720"/>
            <a:ext cx="6309360" cy="685800"/>
          </a:xfrm>
          <a:prstGeom prst="roundRect">
            <a:avLst>
              <a:gd name="adj" fmla="val 4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46177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53D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saludia-3fzk.onrender.com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366760" y="1600200"/>
            <a:ext cx="2880360" cy="35661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pic>
        <p:nvPicPr>
          <p:cNvPr id="9" name="Image 0" descr="assets/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874520"/>
            <a:ext cx="2240280" cy="2240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66760" y="42062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Escanéalo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pruébalo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300" kern="0" dirty="0">
                <a:solidFill>
                  <a:srgbClr val="1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Anticiparse 2 o 3 semanas salva vidas.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606040"/>
            <a:ext cx="731520" cy="731520"/>
          </a:xfrm>
          <a:prstGeom prst="ellipse">
            <a:avLst/>
          </a:prstGeom>
          <a:solidFill>
            <a:srgbClr val="E4EEF6"/>
          </a:solidFill>
          <a:ln/>
        </p:spPr>
      </p:sp>
      <p:pic>
        <p:nvPicPr>
          <p:cNvPr id="6" name="Image 0" descr="assets/ic_syrin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2788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Reforzar vacunación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29968" y="294436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zonas de mayor riesgo antes del pico.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219456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606040"/>
            <a:ext cx="731520" cy="731520"/>
          </a:xfrm>
          <a:prstGeom prst="ellipse">
            <a:avLst/>
          </a:prstGeom>
          <a:solidFill>
            <a:srgbClr val="E4EEF6"/>
          </a:solidFill>
          <a:ln/>
        </p:spPr>
      </p:sp>
      <p:pic>
        <p:nvPicPr>
          <p:cNvPr id="11" name="Image 1" descr="assets/ic_db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7889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468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Preposicionar insumos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379208" y="294436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y recursos donde se van a necesitar.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397764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115568" y="4389120"/>
            <a:ext cx="731520" cy="731520"/>
          </a:xfrm>
          <a:prstGeom prst="ellipse">
            <a:avLst/>
          </a:prstGeom>
          <a:solidFill>
            <a:srgbClr val="E4EEF6"/>
          </a:solidFill>
          <a:ln/>
        </p:spPr>
      </p:sp>
      <p:pic>
        <p:nvPicPr>
          <p:cNvPr id="16" name="Image 2" descr="assets/ic_user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4572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Movilizar personal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29968" y="47274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brigadas y equipos hacia los municipios críticos.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029200" cy="1554480"/>
          </a:xfrm>
          <a:prstGeom prst="roundRect">
            <a:avLst>
              <a:gd name="adj" fmla="val 7059"/>
            </a:avLst>
          </a:prstGeom>
          <a:solidFill>
            <a:srgbClr val="F3F6FA"/>
          </a:solidFill>
          <a:ln/>
          <a:effectLst>
            <a:outerShdw sx="100000" sy="100000" kx="0" ky="0" algn="bl" rotWithShape="0" blurRad="114300" dist="38100" dir="5400000">
              <a:srgbClr val="9AA7B4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389120"/>
            <a:ext cx="731520" cy="731520"/>
          </a:xfrm>
          <a:prstGeom prst="ellipse">
            <a:avLst/>
          </a:prstGeom>
          <a:solidFill>
            <a:srgbClr val="E4EEF6"/>
          </a:solidFill>
          <a:ln/>
        </p:spPr>
      </p:sp>
      <p:pic>
        <p:nvPicPr>
          <p:cNvPr id="21" name="Image 3" descr="assets/ic_bel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5720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251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3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a la comunidad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379208" y="47274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prevención temprana antes de que el brote crezca.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i="1" dirty="0">
                <a:solidFill>
                  <a:srgbClr val="1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Convertimos un modelo técnico en una herramienta de decisión para el sistema de salud.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rgbClr val="1F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SALUDIA SE DESTACA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86384" y="1051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53D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típico vs. lo que hicimos.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EDF1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TÍPICO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2148840"/>
            <a:ext cx="5029200" cy="548640"/>
          </a:xfrm>
          <a:prstGeom prst="roundRect">
            <a:avLst>
              <a:gd name="adj" fmla="val 13333"/>
            </a:avLst>
          </a:prstGeom>
          <a:solidFill>
            <a:srgbClr val="153D6B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21488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7C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3F6F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83464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enfermedad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E9F6F2"/>
          </a:solidFill>
          <a:ln w="12700">
            <a:solidFill>
              <a:srgbClr val="C7E9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3008376"/>
            <a:ext cx="365760" cy="365760"/>
          </a:xfrm>
          <a:prstGeom prst="ellipse">
            <a:avLst/>
          </a:prstGeom>
          <a:solidFill>
            <a:srgbClr val="2FA96A"/>
          </a:solidFill>
          <a:ln/>
        </p:spPr>
      </p:sp>
      <p:pic>
        <p:nvPicPr>
          <p:cNvPr id="12" name="Image 0" descr="assets/ic_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104" y="3081528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5160" y="2834640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Multi-enfermedad: dengue y malaria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22960" y="3675888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3F6FA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367588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clima y casos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09360" y="3675888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E9F6F2"/>
          </a:solidFill>
          <a:ln w="12700">
            <a:solidFill>
              <a:srgbClr val="C7E9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73952" y="3849624"/>
            <a:ext cx="365760" cy="365760"/>
          </a:xfrm>
          <a:prstGeom prst="ellipse">
            <a:avLst/>
          </a:prstGeom>
          <a:solidFill>
            <a:srgbClr val="2FA96A"/>
          </a:solidFill>
          <a:ln/>
        </p:spPr>
      </p:sp>
      <p:pic>
        <p:nvPicPr>
          <p:cNvPr id="18" name="Image 1" descr="assets/ic_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3922776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3675888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clima, casos, ambiente y vulnerabilidad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822960" y="4517136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3F6FA"/>
          </a:solidFill>
          <a:ln/>
        </p:spPr>
      </p:sp>
      <p:sp>
        <p:nvSpPr>
          <p:cNvPr id="21" name="Text 17"/>
          <p:cNvSpPr/>
          <p:nvPr/>
        </p:nvSpPr>
        <p:spPr>
          <a:xfrm>
            <a:off x="1051560" y="4517136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"Caja negra"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6309360" y="4517136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E9F6F2"/>
          </a:solidFill>
          <a:ln w="12700">
            <a:solidFill>
              <a:srgbClr val="C7E9E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473952" y="4690872"/>
            <a:ext cx="365760" cy="365760"/>
          </a:xfrm>
          <a:prstGeom prst="ellipse">
            <a:avLst/>
          </a:prstGeom>
          <a:solidFill>
            <a:srgbClr val="2FA96A"/>
          </a:solidFill>
          <a:ln/>
        </p:spPr>
      </p:sp>
      <p:pic>
        <p:nvPicPr>
          <p:cNvPr id="24" name="Image 2" descr="assets/ic_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4764024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95160" y="4517136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alerta se explica en lenguaje simple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822960" y="5358384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F3F6FA"/>
          </a:solidFill>
          <a:ln/>
        </p:spPr>
      </p:sp>
      <p:sp>
        <p:nvSpPr>
          <p:cNvPr id="27" name="Text 22"/>
          <p:cNvSpPr/>
          <p:nvPr/>
        </p:nvSpPr>
        <p:spPr>
          <a:xfrm>
            <a:off x="1051560" y="5358384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en el notebook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309360" y="5358384"/>
            <a:ext cx="5029200" cy="713232"/>
          </a:xfrm>
          <a:prstGeom prst="roundRect">
            <a:avLst>
              <a:gd name="adj" fmla="val 10256"/>
            </a:avLst>
          </a:prstGeom>
          <a:solidFill>
            <a:srgbClr val="E9F6F2"/>
          </a:solidFill>
          <a:ln w="12700">
            <a:solidFill>
              <a:srgbClr val="C7E9E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473952" y="5532120"/>
            <a:ext cx="365760" cy="365760"/>
          </a:xfrm>
          <a:prstGeom prst="ellipse">
            <a:avLst/>
          </a:prstGeom>
          <a:solidFill>
            <a:srgbClr val="2FA96A"/>
          </a:solidFill>
          <a:ln/>
        </p:spPr>
      </p:sp>
      <p:pic>
        <p:nvPicPr>
          <p:cNvPr id="30" name="Image 3" descr="assets/ic_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5605272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95160" y="5358384"/>
            <a:ext cx="4206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Desplegado y funcionando en internet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3D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97280"/>
            <a:ext cx="182880" cy="182880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097280"/>
            <a:ext cx="182880" cy="18288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097280"/>
            <a:ext cx="182880" cy="182880"/>
          </a:xfrm>
          <a:prstGeom prst="ellipse">
            <a:avLst/>
          </a:prstGeom>
          <a:solidFill>
            <a:srgbClr val="F2B90C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1097280"/>
            <a:ext cx="182880" cy="182880"/>
          </a:xfrm>
          <a:prstGeom prst="ellipse">
            <a:avLst/>
          </a:prstGeom>
          <a:solidFill>
            <a:srgbClr val="2FA96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92024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</a:t>
            </a:r>
            <a:pPr algn="l" indent="0" marL="0">
              <a:buNone/>
            </a:pPr>
            <a:r>
              <a:rPr lang="en-US" sz="5400" b="1" dirty="0">
                <a:solidFill>
                  <a:srgbClr val="9FB4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reaccionar</a:t>
            </a:r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a  </a:t>
            </a:r>
            <a:pPr algn="l" indent="0" marL="0">
              <a:buNone/>
            </a:pPr>
            <a:r>
              <a:rPr lang="en-US" sz="5400" b="1" dirty="0">
                <a:solidFill>
                  <a:srgbClr val="27C3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anticipar</a:t>
            </a:r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7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SaludIA convierte datos de salud pública en decisiones que llegan a tiempo.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6035040" cy="658368"/>
          </a:xfrm>
          <a:prstGeom prst="roundRect">
            <a:avLst>
              <a:gd name="adj" fmla="val 50000"/>
            </a:avLst>
          </a:prstGeom>
          <a:solidFill>
            <a:srgbClr val="12345C"/>
          </a:solidFill>
          <a:ln w="12700">
            <a:solidFill>
              <a:srgbClr val="1FA98F"/>
            </a:solidFill>
            <a:prstDash val="solid"/>
          </a:ln>
        </p:spPr>
      </p:sp>
      <p:pic>
        <p:nvPicPr>
          <p:cNvPr id="9" name="Image 0" descr="assets/ic_clou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436168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2062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saludia-3fzk.onrender.com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   </a:t>
            </a:r>
            <a:pPr algn="l" indent="0" marL="0">
              <a:buNone/>
            </a:pPr>
            <a:r>
              <a:rPr lang="en-US" sz="1500" dirty="0">
                <a:solidFill>
                  <a:srgbClr val="9F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· Kevin · María José · Valeria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Equipo SaludIA</dc:creator>
  <cp:lastModifiedBy>Equipo SaludIA</cp:lastModifiedBy>
  <cp:revision>1</cp:revision>
  <dcterms:created xsi:type="dcterms:W3CDTF">2026-07-13T14:50:25Z</dcterms:created>
  <dcterms:modified xsi:type="dcterms:W3CDTF">2026-07-13T14:50:25Z</dcterms:modified>
</cp:coreProperties>
</file>