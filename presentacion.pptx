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106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Nicolás (apertura + gancho). "Imaginen un municipio del Chocó: hoy 3 personas con fiebre, en dos semanas 300... Somos SaludIA y predecimos el brote antes de que ocurra."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Nicolás (enganche). Cae la frase con pausa. "Más de cien mil casos al año, y siempre llegamos tarde: el sistema reacciona cuando ya hay miles de contagiados."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Nicolás → Kevin. Cierra el problema y presenta la pregunta guía.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Nicolás/Kevin. Lee la pregunta marcando "una semana de adelanto". Este fue el reto exacto.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Kevin. La frase clave + las tres capas.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Kevin → Majo. El flujo completo. No es maqueta: está desplegado.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María José. Cifras reales. Transición a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Valeria (DEMO ~5 min). URL ya despierta. Mapa → filtro → Top Riesgo → predicción de un municipio → anomalías/datos. "Todo sale del modelo real, en vivo."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María José (post-demo).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Kevin. Por qué esto gana.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Kevin/Majo. La visión a futuro: más enfermedades y datos en tiempo real para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Nicolás (cierre). Retoma el gancho del Chocó: esa señal se ve hoy, no en dos semanas. "De reaccionar a anticipar. Gracias."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9.png"/><Relationship Id="rId10" Type="http://schemas.openxmlformats.org/officeDocument/2006/relationships/image" Target="../media/image3.png"/><Relationship Id="rId4" Type="http://schemas.openxmlformats.org/officeDocument/2006/relationships/image" Target="../media/image18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_t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colombia_g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457200"/>
            <a:ext cx="3108960" cy="4087368"/>
          </a:xfrm>
          <a:prstGeom prst="rect">
            <a:avLst/>
          </a:prstGeom>
        </p:spPr>
      </p:pic>
      <p:pic>
        <p:nvPicPr>
          <p:cNvPr id="4" name="Image 2" descr="assets/pul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3566160"/>
            <a:ext cx="6035040" cy="103327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960" y="14173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r>
              <a:rPr lang="en-US" sz="8800" b="1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8800" dirty="0"/>
          </a:p>
        </p:txBody>
      </p:sp>
      <p:sp>
        <p:nvSpPr>
          <p:cNvPr id="6" name="Shape 1"/>
          <p:cNvSpPr/>
          <p:nvPr/>
        </p:nvSpPr>
        <p:spPr>
          <a:xfrm>
            <a:off x="914400" y="2743200"/>
            <a:ext cx="1005840" cy="45720"/>
          </a:xfrm>
          <a:prstGeom prst="rect">
            <a:avLst/>
          </a:prstGeom>
          <a:solidFill>
            <a:srgbClr val="27C3A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2"/>
          <p:cNvSpPr/>
          <p:nvPr/>
        </p:nvSpPr>
        <p:spPr>
          <a:xfrm>
            <a:off x="841248" y="2880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i="1" dirty="0">
                <a:solidFill>
                  <a:srgbClr val="3FE0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Predecir el brote antes de que ocurra.</a:t>
            </a:r>
            <a:endParaRPr lang="en-US" sz="2700" dirty="0"/>
          </a:p>
        </p:txBody>
      </p:sp>
      <p:sp>
        <p:nvSpPr>
          <p:cNvPr id="8" name="Text 3"/>
          <p:cNvSpPr/>
          <p:nvPr/>
        </p:nvSpPr>
        <p:spPr>
          <a:xfrm>
            <a:off x="859536" y="35661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 temprana de Dengue y Malaria · Colombia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868680" y="4343400"/>
            <a:ext cx="713232" cy="713232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C6E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Image 3" descr="assets/ic_shield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988" y="4521708"/>
            <a:ext cx="356616" cy="356616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655064" y="4654296"/>
            <a:ext cx="45720" cy="45720"/>
          </a:xfrm>
          <a:prstGeom prst="ellipse">
            <a:avLst/>
          </a:prstGeom>
          <a:solidFill>
            <a:srgbClr val="3FE0C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6"/>
          <p:cNvSpPr/>
          <p:nvPr/>
        </p:nvSpPr>
        <p:spPr>
          <a:xfrm>
            <a:off x="1764792" y="4654296"/>
            <a:ext cx="45720" cy="45720"/>
          </a:xfrm>
          <a:prstGeom prst="ellipse">
            <a:avLst/>
          </a:prstGeom>
          <a:solidFill>
            <a:srgbClr val="3FE0C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7"/>
          <p:cNvSpPr/>
          <p:nvPr/>
        </p:nvSpPr>
        <p:spPr>
          <a:xfrm>
            <a:off x="1874520" y="4654296"/>
            <a:ext cx="45720" cy="45720"/>
          </a:xfrm>
          <a:prstGeom prst="ellipse">
            <a:avLst/>
          </a:prstGeom>
          <a:solidFill>
            <a:srgbClr val="3FE0C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8"/>
          <p:cNvSpPr/>
          <p:nvPr/>
        </p:nvSpPr>
        <p:spPr>
          <a:xfrm>
            <a:off x="1920240" y="4343400"/>
            <a:ext cx="713232" cy="713232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C6E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5" name="Image 4" descr="assets/ic_bug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8548" y="4521708"/>
            <a:ext cx="356616" cy="35661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2706624" y="4654296"/>
            <a:ext cx="45720" cy="45720"/>
          </a:xfrm>
          <a:prstGeom prst="ellipse">
            <a:avLst/>
          </a:prstGeom>
          <a:solidFill>
            <a:srgbClr val="3FE0C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0"/>
          <p:cNvSpPr/>
          <p:nvPr/>
        </p:nvSpPr>
        <p:spPr>
          <a:xfrm>
            <a:off x="2816352" y="4654296"/>
            <a:ext cx="45720" cy="45720"/>
          </a:xfrm>
          <a:prstGeom prst="ellipse">
            <a:avLst/>
          </a:prstGeom>
          <a:solidFill>
            <a:srgbClr val="3FE0C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1"/>
          <p:cNvSpPr/>
          <p:nvPr/>
        </p:nvSpPr>
        <p:spPr>
          <a:xfrm>
            <a:off x="2926080" y="4654296"/>
            <a:ext cx="45720" cy="45720"/>
          </a:xfrm>
          <a:prstGeom prst="ellipse">
            <a:avLst/>
          </a:prstGeom>
          <a:solidFill>
            <a:srgbClr val="3FE0C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2"/>
          <p:cNvSpPr/>
          <p:nvPr/>
        </p:nvSpPr>
        <p:spPr>
          <a:xfrm>
            <a:off x="2971800" y="4343400"/>
            <a:ext cx="713232" cy="713232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C6E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5" descr="assets/ic_syringe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0108" y="4521708"/>
            <a:ext cx="356616" cy="356616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3758184" y="4654296"/>
            <a:ext cx="45720" cy="45720"/>
          </a:xfrm>
          <a:prstGeom prst="ellipse">
            <a:avLst/>
          </a:prstGeom>
          <a:solidFill>
            <a:srgbClr val="3FE0C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14"/>
          <p:cNvSpPr/>
          <p:nvPr/>
        </p:nvSpPr>
        <p:spPr>
          <a:xfrm>
            <a:off x="3867912" y="4654296"/>
            <a:ext cx="45720" cy="45720"/>
          </a:xfrm>
          <a:prstGeom prst="ellipse">
            <a:avLst/>
          </a:prstGeom>
          <a:solidFill>
            <a:srgbClr val="3FE0C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15"/>
          <p:cNvSpPr/>
          <p:nvPr/>
        </p:nvSpPr>
        <p:spPr>
          <a:xfrm>
            <a:off x="3977640" y="4654296"/>
            <a:ext cx="45720" cy="45720"/>
          </a:xfrm>
          <a:prstGeom prst="ellipse">
            <a:avLst/>
          </a:prstGeom>
          <a:solidFill>
            <a:srgbClr val="3FE0C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16"/>
          <p:cNvSpPr/>
          <p:nvPr/>
        </p:nvSpPr>
        <p:spPr>
          <a:xfrm>
            <a:off x="4023360" y="4343400"/>
            <a:ext cx="713232" cy="713232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C6E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5" name="Image 6" descr="assets/ic_pulse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1668" y="4521708"/>
            <a:ext cx="356616" cy="356616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68680" y="5669280"/>
            <a:ext cx="457200" cy="457200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450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7" name="Image 7" descr="assets/ic_users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550" y="5772150"/>
            <a:ext cx="251460" cy="25146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463040" y="57058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  </a:t>
            </a:r>
            <a:r>
              <a:rPr lang="en-US" sz="14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· Kevin · María José · Valeria</a:t>
            </a:r>
            <a:endParaRPr lang="en-US" sz="1400" dirty="0"/>
          </a:p>
        </p:txBody>
      </p:sp>
      <p:sp>
        <p:nvSpPr>
          <p:cNvPr id="29" name="Shape 19"/>
          <p:cNvSpPr/>
          <p:nvPr/>
        </p:nvSpPr>
        <p:spPr>
          <a:xfrm>
            <a:off x="868680" y="6199632"/>
            <a:ext cx="457200" cy="457200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450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0" name="Image 8" descr="assets/ic_target_t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1550" y="6302502"/>
            <a:ext cx="251460" cy="25146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463040" y="6236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Reto: </a:t>
            </a:r>
            <a:r>
              <a:rPr lang="en-US" sz="13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y Bienestar — Competencia de Inteligencia Artificial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_t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colombia_g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365760"/>
            <a:ext cx="2468880" cy="32461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464040" y="1051560"/>
            <a:ext cx="146304" cy="146304"/>
          </a:xfrm>
          <a:prstGeom prst="ellipse">
            <a:avLst/>
          </a:prstGeom>
          <a:solidFill>
            <a:srgbClr val="F0575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1"/>
          <p:cNvSpPr/>
          <p:nvPr/>
        </p:nvSpPr>
        <p:spPr>
          <a:xfrm>
            <a:off x="9829800" y="1828800"/>
            <a:ext cx="118872" cy="118872"/>
          </a:xfrm>
          <a:prstGeom prst="ellipse">
            <a:avLst/>
          </a:prstGeom>
          <a:solidFill>
            <a:srgbClr val="F0575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2"/>
          <p:cNvSpPr/>
          <p:nvPr/>
        </p:nvSpPr>
        <p:spPr>
          <a:xfrm>
            <a:off x="9189720" y="2286000"/>
            <a:ext cx="109728" cy="109728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3"/>
          <p:cNvSpPr/>
          <p:nvPr/>
        </p:nvSpPr>
        <p:spPr>
          <a:xfrm>
            <a:off x="822960" y="969264"/>
            <a:ext cx="384048" cy="41148"/>
          </a:xfrm>
          <a:prstGeom prst="rect">
            <a:avLst/>
          </a:prstGeom>
          <a:solidFill>
            <a:srgbClr val="27C3A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4"/>
          <p:cNvSpPr/>
          <p:nvPr/>
        </p:nvSpPr>
        <p:spPr>
          <a:xfrm>
            <a:off x="822960" y="65836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86384" y="123444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EA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brote se detecta</a:t>
            </a:r>
            <a:endParaRPr lang="en-US" sz="50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EA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cuando ya es tarde.</a:t>
            </a:r>
            <a:endParaRPr lang="en-US" sz="5000" dirty="0"/>
          </a:p>
        </p:txBody>
      </p:sp>
      <p:sp>
        <p:nvSpPr>
          <p:cNvPr id="10" name="Shape 6"/>
          <p:cNvSpPr/>
          <p:nvPr/>
        </p:nvSpPr>
        <p:spPr>
          <a:xfrm>
            <a:off x="822960" y="356616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1024128" y="3547872"/>
            <a:ext cx="2889504" cy="64008"/>
          </a:xfrm>
          <a:prstGeom prst="roundRect">
            <a:avLst>
              <a:gd name="adj" fmla="val 42857"/>
            </a:avLst>
          </a:prstGeom>
          <a:solidFill>
            <a:srgbClr val="F0575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1115568" y="3840480"/>
            <a:ext cx="749808" cy="749808"/>
          </a:xfrm>
          <a:prstGeom prst="ellipse">
            <a:avLst/>
          </a:prstGeom>
          <a:solidFill>
            <a:srgbClr val="0F2A49"/>
          </a:solidFill>
          <a:ln w="17780">
            <a:solidFill>
              <a:srgbClr val="F057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3" name="Image 2" descr="assets/ic_bu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020" y="4027932"/>
            <a:ext cx="374904" cy="3749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4617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A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+100.000</a:t>
            </a:r>
            <a:endParaRPr lang="en-US" sz="3200" dirty="0"/>
          </a:p>
        </p:txBody>
      </p:sp>
      <p:sp>
        <p:nvSpPr>
          <p:cNvPr id="15" name="Text 10"/>
          <p:cNvSpPr/>
          <p:nvPr/>
        </p:nvSpPr>
        <p:spPr>
          <a:xfrm>
            <a:off x="1115568" y="52303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dengue en un año epidémico en Colombia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434840" y="356616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4636008" y="3547872"/>
            <a:ext cx="2889504" cy="64008"/>
          </a:xfrm>
          <a:prstGeom prst="roundRect">
            <a:avLst>
              <a:gd name="adj" fmla="val 42857"/>
            </a:avLst>
          </a:prstGeom>
          <a:solidFill>
            <a:srgbClr val="FF8A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3"/>
          <p:cNvSpPr/>
          <p:nvPr/>
        </p:nvSpPr>
        <p:spPr>
          <a:xfrm>
            <a:off x="4727448" y="3840480"/>
            <a:ext cx="749808" cy="749808"/>
          </a:xfrm>
          <a:prstGeom prst="ellipse">
            <a:avLst/>
          </a:prstGeom>
          <a:solidFill>
            <a:srgbClr val="0F2A49"/>
          </a:solidFill>
          <a:ln w="1778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9" name="Image 3" descr="assets/ic_pi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900" y="4027932"/>
            <a:ext cx="374904" cy="3749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09160" y="4617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A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~80.000</a:t>
            </a:r>
            <a:endParaRPr lang="en-US" sz="3200" dirty="0"/>
          </a:p>
        </p:txBody>
      </p:sp>
      <p:sp>
        <p:nvSpPr>
          <p:cNvPr id="21" name="Text 15"/>
          <p:cNvSpPr/>
          <p:nvPr/>
        </p:nvSpPr>
        <p:spPr>
          <a:xfrm>
            <a:off x="4727448" y="52303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malaria al año, concentrados en zonas apartadas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046720" y="356616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17"/>
          <p:cNvSpPr/>
          <p:nvPr/>
        </p:nvSpPr>
        <p:spPr>
          <a:xfrm>
            <a:off x="8247888" y="3547872"/>
            <a:ext cx="2889504" cy="64008"/>
          </a:xfrm>
          <a:prstGeom prst="roundRect">
            <a:avLst>
              <a:gd name="adj" fmla="val 42857"/>
            </a:avLst>
          </a:prstGeom>
          <a:solidFill>
            <a:srgbClr val="F6C54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18"/>
          <p:cNvSpPr/>
          <p:nvPr/>
        </p:nvSpPr>
        <p:spPr>
          <a:xfrm>
            <a:off x="8339328" y="3840480"/>
            <a:ext cx="749808" cy="749808"/>
          </a:xfrm>
          <a:prstGeom prst="ellipse">
            <a:avLst/>
          </a:prstGeom>
          <a:solidFill>
            <a:srgbClr val="0F2A49"/>
          </a:solidFill>
          <a:ln w="17780">
            <a:solidFill>
              <a:srgbClr val="F6C5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5" name="Image 4" descr="assets/ic_clo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6780" y="4027932"/>
            <a:ext cx="374904" cy="3749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321040" y="4617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A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Semanas</a:t>
            </a:r>
            <a:endParaRPr lang="en-US" sz="3200" dirty="0"/>
          </a:p>
        </p:txBody>
      </p:sp>
      <p:sp>
        <p:nvSpPr>
          <p:cNvPr id="27" name="Text 20"/>
          <p:cNvSpPr/>
          <p:nvPr/>
        </p:nvSpPr>
        <p:spPr>
          <a:xfrm>
            <a:off x="8339328" y="52303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retraso entre el contagio y la reacción del sistema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_t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969264"/>
            <a:ext cx="384048" cy="41148"/>
          </a:xfrm>
          <a:prstGeom prst="rect">
            <a:avLst/>
          </a:prstGeom>
          <a:solidFill>
            <a:srgbClr val="27C3A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822960" y="65836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REACCIONA TARDE?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86384" y="10972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EA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de salud reacciona, no se anticipa.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822960" y="2286000"/>
            <a:ext cx="3337560" cy="2743200"/>
          </a:xfrm>
          <a:prstGeom prst="roundRect">
            <a:avLst>
              <a:gd name="adj" fmla="val 3333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1143000" y="2606040"/>
            <a:ext cx="786384" cy="786384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C6E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8" name="Image 1" descr="assets/ic_clo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596" y="2802636"/>
            <a:ext cx="393192" cy="3931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3856" y="3566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llegan tarde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143000" y="4114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casos se reportan con días o semanas de retraso.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434840" y="2286000"/>
            <a:ext cx="3337560" cy="2743200"/>
          </a:xfrm>
          <a:prstGeom prst="roundRect">
            <a:avLst>
              <a:gd name="adj" fmla="val 3333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4754880" y="2606040"/>
            <a:ext cx="786384" cy="786384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C6E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3" name="Image 2" descr="assets/ic_network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476" y="2802636"/>
            <a:ext cx="393192" cy="3931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45736" y="3566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cruzan variables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754880" y="4114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Clima, vacunación y ambiente se miran por separado.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8046720" y="2286000"/>
            <a:ext cx="3337560" cy="2743200"/>
          </a:xfrm>
          <a:prstGeom prst="roundRect">
            <a:avLst>
              <a:gd name="adj" fmla="val 3333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8366760" y="2606040"/>
            <a:ext cx="786384" cy="786384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C6E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8" name="Image 3" descr="assets/ic_shield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3356" y="2802636"/>
            <a:ext cx="393192" cy="3931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57616" y="3566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mide la vulnerabilidad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8366760" y="4114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sabe qué zonas están menos preparadas para responder.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822960" y="5440680"/>
            <a:ext cx="548640" cy="548640"/>
          </a:xfrm>
          <a:prstGeom prst="ellipse">
            <a:avLst/>
          </a:prstGeom>
          <a:solidFill>
            <a:srgbClr val="0F2A49"/>
          </a:solidFill>
          <a:ln w="17780">
            <a:solidFill>
              <a:srgbClr val="F057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2" name="Image 4" descr="assets/ic_sire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634" y="5572354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5440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05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 </a:t>
            </a:r>
            <a:r>
              <a:rPr lang="en-US" sz="19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pierden semanas críticas de prevención.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_t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088136"/>
            <a:ext cx="384048" cy="41148"/>
          </a:xfrm>
          <a:prstGeom prst="rect">
            <a:avLst/>
          </a:prstGeom>
          <a:solidFill>
            <a:srgbClr val="27C3A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822960" y="7772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DE INVESTIGACIÓN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58368" y="9601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2C6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5000" dirty="0"/>
          </a:p>
        </p:txBody>
      </p:sp>
      <p:sp>
        <p:nvSpPr>
          <p:cNvPr id="6" name="Text 3"/>
          <p:cNvSpPr/>
          <p:nvPr/>
        </p:nvSpPr>
        <p:spPr>
          <a:xfrm>
            <a:off x="1554480" y="1965960"/>
            <a:ext cx="9509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000" i="1" dirty="0">
                <a:solidFill>
                  <a:srgbClr val="EA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anticipar, con una semana de adelanto, el riesgo de brote de Dengue o Malaria a nivel municipal en Colombia — usando historial de casos, población y variables ambientales de fuentes abiertas?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1572768" y="5760720"/>
            <a:ext cx="128016" cy="128016"/>
          </a:xfrm>
          <a:prstGeom prst="ellipse">
            <a:avLst/>
          </a:prstGeom>
          <a:solidFill>
            <a:srgbClr val="F0575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1810512" y="5760720"/>
            <a:ext cx="128016" cy="12801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2048256" y="5760720"/>
            <a:ext cx="128016" cy="128016"/>
          </a:xfrm>
          <a:prstGeom prst="ellipse">
            <a:avLst/>
          </a:prstGeom>
          <a:solidFill>
            <a:srgbClr val="F6C54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2286000" y="5760720"/>
            <a:ext cx="128016" cy="128016"/>
          </a:xfrm>
          <a:prstGeom prst="ellipse">
            <a:avLst/>
          </a:prstGeom>
          <a:solidFill>
            <a:srgbClr val="46D68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2651760" y="57058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que guía todo nuestro sistema.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_t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905256"/>
            <a:ext cx="384048" cy="41148"/>
          </a:xfrm>
          <a:prstGeom prst="rect">
            <a:avLst/>
          </a:prstGeom>
          <a:solidFill>
            <a:srgbClr val="27C3A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822960" y="5943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SOLUCIÓN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86384" y="10515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EA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solo predecimos </a:t>
            </a:r>
            <a:r>
              <a:rPr lang="en-US" sz="3000" b="1" i="1" dirty="0">
                <a:solidFill>
                  <a:srgbClr val="3FE0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</a:t>
            </a:r>
            <a:r>
              <a:rPr lang="en-US" sz="3000" b="1" dirty="0">
                <a:solidFill>
                  <a:srgbClr val="EA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habrá un brote —</a:t>
            </a:r>
            <a:endParaRPr lang="en-US" sz="3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EA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predecimos dónde el sistema </a:t>
            </a:r>
            <a:endParaRPr lang="en-US" sz="3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057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está listo</a:t>
            </a:r>
            <a:r>
              <a:rPr lang="en-US" sz="3000" b="1" dirty="0">
                <a:solidFill>
                  <a:srgbClr val="EA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para responderlo.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2880360"/>
            <a:ext cx="3337560" cy="3063240"/>
          </a:xfrm>
          <a:prstGeom prst="roundRect">
            <a:avLst>
              <a:gd name="adj" fmla="val 2985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1024128" y="2862072"/>
            <a:ext cx="2935224" cy="64008"/>
          </a:xfrm>
          <a:prstGeom prst="roundRect">
            <a:avLst>
              <a:gd name="adj" fmla="val 42857"/>
            </a:avLst>
          </a:prstGeom>
          <a:solidFill>
            <a:srgbClr val="27C3A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1133856" y="3200400"/>
            <a:ext cx="822960" cy="822960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7C3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9" name="Image 1" descr="assets/ic_cpu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596" y="34061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2C56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1133856" y="4206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con IA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143000" y="47548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entrenado estima cuántos casos habrá la próxima semana, por municipio.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434840" y="2880360"/>
            <a:ext cx="3337560" cy="3063240"/>
          </a:xfrm>
          <a:prstGeom prst="roundRect">
            <a:avLst>
              <a:gd name="adj" fmla="val 2985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4636008" y="2862072"/>
            <a:ext cx="2935224" cy="64008"/>
          </a:xfrm>
          <a:prstGeom prst="roundRect">
            <a:avLst>
              <a:gd name="adj" fmla="val 42857"/>
            </a:avLst>
          </a:prstGeom>
          <a:solidFill>
            <a:srgbClr val="3FE0C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4745736" y="3200400"/>
            <a:ext cx="822960" cy="822960"/>
          </a:xfrm>
          <a:prstGeom prst="ellipse">
            <a:avLst/>
          </a:prstGeom>
          <a:solidFill>
            <a:srgbClr val="0F2A49"/>
          </a:solidFill>
          <a:ln w="17780">
            <a:solidFill>
              <a:srgbClr val="3FE0C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 2" descr="assets/ic_shield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476" y="34061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2C56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3"/>
          <p:cNvSpPr/>
          <p:nvPr/>
        </p:nvSpPr>
        <p:spPr>
          <a:xfrm>
            <a:off x="4745736" y="4206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 territorial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4754880" y="47548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índice del 1 al 10 mide qué tan preparada está cada zona para enfrentar un brote.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046720" y="2880360"/>
            <a:ext cx="3337560" cy="3063240"/>
          </a:xfrm>
          <a:prstGeom prst="roundRect">
            <a:avLst>
              <a:gd name="adj" fmla="val 2985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6"/>
          <p:cNvSpPr/>
          <p:nvPr/>
        </p:nvSpPr>
        <p:spPr>
          <a:xfrm>
            <a:off x="8247888" y="2862072"/>
            <a:ext cx="2935224" cy="64008"/>
          </a:xfrm>
          <a:prstGeom prst="roundRect">
            <a:avLst>
              <a:gd name="adj" fmla="val 42857"/>
            </a:avLst>
          </a:prstGeom>
          <a:solidFill>
            <a:srgbClr val="F0575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17"/>
          <p:cNvSpPr/>
          <p:nvPr/>
        </p:nvSpPr>
        <p:spPr>
          <a:xfrm>
            <a:off x="8357616" y="3200400"/>
            <a:ext cx="822960" cy="822960"/>
          </a:xfrm>
          <a:prstGeom prst="ellipse">
            <a:avLst/>
          </a:prstGeom>
          <a:solidFill>
            <a:srgbClr val="0F2A49"/>
          </a:solidFill>
          <a:ln w="17780">
            <a:solidFill>
              <a:srgbClr val="F057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3" name="Image 3" descr="assets/ic_siren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3356" y="340614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51560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2C56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5" name="Text 19"/>
          <p:cNvSpPr/>
          <p:nvPr/>
        </p:nvSpPr>
        <p:spPr>
          <a:xfrm>
            <a:off x="8357616" y="4206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tipo semáforo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8366760" y="47548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ambas y marca cada municipio: crítico, alto, medio o bajo, con su explicación.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_t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969264"/>
            <a:ext cx="384048" cy="41148"/>
          </a:xfrm>
          <a:prstGeom prst="rect">
            <a:avLst/>
          </a:prstGeom>
          <a:solidFill>
            <a:srgbClr val="27C3A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822960" y="65836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86384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A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datos públicos a una alerta accionable.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21792" y="274320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1239012" y="2999232"/>
            <a:ext cx="731520" cy="731520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C6E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8" name="Image 1" descr="assets/ic_db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892" y="3182112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6656" y="3803904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públicos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76656" y="4206240"/>
            <a:ext cx="1856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 · IDEAM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casos, clima, aire</a:t>
            </a:r>
            <a:endParaRPr lang="en-US" sz="1100" dirty="0"/>
          </a:p>
        </p:txBody>
      </p:sp>
      <p:pic>
        <p:nvPicPr>
          <p:cNvPr id="11" name="Image 2" descr="assets/ic_arrow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9464" y="3675888"/>
            <a:ext cx="274320" cy="2743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843784" y="274320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8"/>
          <p:cNvSpPr/>
          <p:nvPr/>
        </p:nvSpPr>
        <p:spPr>
          <a:xfrm>
            <a:off x="3461004" y="2999232"/>
            <a:ext cx="731520" cy="731520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C6E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4" name="Image 3" descr="assets/ic_cpu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3884" y="3182112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898648" y="3803904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IA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2898648" y="4206240"/>
            <a:ext cx="1856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casos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próxima semana</a:t>
            </a:r>
            <a:endParaRPr lang="en-US" sz="1100" dirty="0"/>
          </a:p>
        </p:txBody>
      </p:sp>
      <p:pic>
        <p:nvPicPr>
          <p:cNvPr id="17" name="Image 4" descr="assets/ic_arrow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3675888"/>
            <a:ext cx="274320" cy="27432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065776" y="274320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2"/>
          <p:cNvSpPr/>
          <p:nvPr/>
        </p:nvSpPr>
        <p:spPr>
          <a:xfrm>
            <a:off x="5682996" y="2999232"/>
            <a:ext cx="731520" cy="731520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C6E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5" descr="assets/ic_shield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182112"/>
            <a:ext cx="365760" cy="3657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20640" y="3803904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5120640" y="4206240"/>
            <a:ext cx="1856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territorial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10</a:t>
            </a:r>
            <a:endParaRPr lang="en-US" sz="1100" dirty="0"/>
          </a:p>
        </p:txBody>
      </p:sp>
      <p:pic>
        <p:nvPicPr>
          <p:cNvPr id="23" name="Image 6" descr="assets/ic_arrow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448" y="3675888"/>
            <a:ext cx="274320" cy="27432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287768" y="274320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16"/>
          <p:cNvSpPr/>
          <p:nvPr/>
        </p:nvSpPr>
        <p:spPr>
          <a:xfrm>
            <a:off x="7904988" y="2999232"/>
            <a:ext cx="731520" cy="731520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C6E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6" name="Image 7" descr="assets/ic_siren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7868" y="3182112"/>
            <a:ext cx="365760" cy="36576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342632" y="3803904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alertas</a:t>
            </a:r>
            <a:endParaRPr lang="en-US" sz="1450" dirty="0"/>
          </a:p>
        </p:txBody>
      </p:sp>
      <p:sp>
        <p:nvSpPr>
          <p:cNvPr id="28" name="Text 18"/>
          <p:cNvSpPr/>
          <p:nvPr/>
        </p:nvSpPr>
        <p:spPr>
          <a:xfrm>
            <a:off x="7342632" y="4206240"/>
            <a:ext cx="1856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por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</a:t>
            </a:r>
            <a:endParaRPr lang="en-US" sz="1100" dirty="0"/>
          </a:p>
        </p:txBody>
      </p:sp>
      <p:pic>
        <p:nvPicPr>
          <p:cNvPr id="29" name="Image 8" descr="assets/ic_arrow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3675888"/>
            <a:ext cx="274320" cy="274320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509760" y="274320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0"/>
          <p:cNvSpPr/>
          <p:nvPr/>
        </p:nvSpPr>
        <p:spPr>
          <a:xfrm>
            <a:off x="9710928" y="2724912"/>
            <a:ext cx="1563624" cy="64008"/>
          </a:xfrm>
          <a:prstGeom prst="roundRect">
            <a:avLst>
              <a:gd name="adj" fmla="val 42857"/>
            </a:avLst>
          </a:prstGeom>
          <a:solidFill>
            <a:srgbClr val="27C3A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Shape 21"/>
          <p:cNvSpPr/>
          <p:nvPr/>
        </p:nvSpPr>
        <p:spPr>
          <a:xfrm>
            <a:off x="10126980" y="2999232"/>
            <a:ext cx="731520" cy="731520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7C3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3" name="Image 9" descr="assets/ic_eye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9860" y="3182112"/>
            <a:ext cx="365760" cy="36576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9564624" y="3803904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35" name="Text 23"/>
          <p:cNvSpPr/>
          <p:nvPr/>
        </p:nvSpPr>
        <p:spPr>
          <a:xfrm>
            <a:off x="9564624" y="4206240"/>
            <a:ext cx="1856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en vivo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explicación</a:t>
            </a:r>
            <a:endParaRPr lang="en-US" sz="1100" dirty="0"/>
          </a:p>
        </p:txBody>
      </p:sp>
      <p:pic>
        <p:nvPicPr>
          <p:cNvPr id="36" name="Image 10" descr="assets/pul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5532120"/>
            <a:ext cx="5669280" cy="969264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400800" y="5715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conectado de punta a punta — y ya funcionando en la nube.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_t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905256"/>
            <a:ext cx="384048" cy="41148"/>
          </a:xfrm>
          <a:prstGeom prst="rect">
            <a:avLst/>
          </a:prstGeom>
          <a:solidFill>
            <a:srgbClr val="27C3A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822960" y="5943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CONSTRUIMOS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86384" y="1051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A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prototipo real, no una idea en papel.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5029200" cy="1645920"/>
          </a:xfrm>
          <a:prstGeom prst="roundRect">
            <a:avLst>
              <a:gd name="adj" fmla="val 5556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1024128" y="2130552"/>
            <a:ext cx="4626864" cy="64008"/>
          </a:xfrm>
          <a:prstGeom prst="roundRect">
            <a:avLst>
              <a:gd name="adj" fmla="val 42857"/>
            </a:avLst>
          </a:prstGeom>
          <a:solidFill>
            <a:srgbClr val="3FE0C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1188720" y="2834640"/>
            <a:ext cx="292608" cy="292608"/>
          </a:xfrm>
          <a:prstGeom prst="ellipse">
            <a:avLst/>
          </a:prstGeom>
          <a:solidFill>
            <a:srgbClr val="3FE0C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1645920" y="2404872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3FE0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855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3794760" y="2404872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municipios monitoreados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72200" y="2148840"/>
            <a:ext cx="5029200" cy="1645920"/>
          </a:xfrm>
          <a:prstGeom prst="roundRect">
            <a:avLst>
              <a:gd name="adj" fmla="val 5556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6373368" y="2130552"/>
            <a:ext cx="4626864" cy="64008"/>
          </a:xfrm>
          <a:prstGeom prst="roundRect">
            <a:avLst>
              <a:gd name="adj" fmla="val 42857"/>
            </a:avLst>
          </a:prstGeom>
          <a:solidFill>
            <a:srgbClr val="27C3A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6537960" y="2834640"/>
            <a:ext cx="292608" cy="292608"/>
          </a:xfrm>
          <a:prstGeom prst="ellipse">
            <a:avLst/>
          </a:prstGeom>
          <a:solidFill>
            <a:srgbClr val="27C3A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6995160" y="2404872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7C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200" dirty="0"/>
          </a:p>
        </p:txBody>
      </p:sp>
      <p:sp>
        <p:nvSpPr>
          <p:cNvPr id="15" name="Text 12"/>
          <p:cNvSpPr/>
          <p:nvPr/>
        </p:nvSpPr>
        <p:spPr>
          <a:xfrm>
            <a:off x="9144000" y="2404872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enfermedades: dengue y malaria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2960" y="4023360"/>
            <a:ext cx="5029200" cy="1645920"/>
          </a:xfrm>
          <a:prstGeom prst="roundRect">
            <a:avLst>
              <a:gd name="adj" fmla="val 5556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1024128" y="4005072"/>
            <a:ext cx="4626864" cy="64008"/>
          </a:xfrm>
          <a:prstGeom prst="roundRect">
            <a:avLst>
              <a:gd name="adj" fmla="val 42857"/>
            </a:avLst>
          </a:prstGeom>
          <a:solidFill>
            <a:srgbClr val="F0575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5"/>
          <p:cNvSpPr/>
          <p:nvPr/>
        </p:nvSpPr>
        <p:spPr>
          <a:xfrm>
            <a:off x="1188720" y="4709160"/>
            <a:ext cx="292608" cy="292608"/>
          </a:xfrm>
          <a:prstGeom prst="ellipse">
            <a:avLst/>
          </a:prstGeom>
          <a:solidFill>
            <a:srgbClr val="F0575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1645920" y="4279392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057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924</a:t>
            </a:r>
            <a:endParaRPr lang="en-US" sz="5200" dirty="0"/>
          </a:p>
        </p:txBody>
      </p:sp>
      <p:sp>
        <p:nvSpPr>
          <p:cNvPr id="20" name="Text 17"/>
          <p:cNvSpPr/>
          <p:nvPr/>
        </p:nvSpPr>
        <p:spPr>
          <a:xfrm>
            <a:off x="3794760" y="4279392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generadas en vivo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172200" y="4023360"/>
            <a:ext cx="5029200" cy="1645920"/>
          </a:xfrm>
          <a:prstGeom prst="roundRect">
            <a:avLst>
              <a:gd name="adj" fmla="val 5556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19"/>
          <p:cNvSpPr/>
          <p:nvPr/>
        </p:nvSpPr>
        <p:spPr>
          <a:xfrm>
            <a:off x="6373368" y="4005072"/>
            <a:ext cx="4626864" cy="64008"/>
          </a:xfrm>
          <a:prstGeom prst="roundRect">
            <a:avLst>
              <a:gd name="adj" fmla="val 42857"/>
            </a:avLst>
          </a:prstGeom>
          <a:solidFill>
            <a:srgbClr val="FF8A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20"/>
          <p:cNvSpPr/>
          <p:nvPr/>
        </p:nvSpPr>
        <p:spPr>
          <a:xfrm>
            <a:off x="6537960" y="4709160"/>
            <a:ext cx="292608" cy="292608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6995160" y="4279392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</a:t>
            </a:r>
            <a:endParaRPr lang="en-US" sz="5200" dirty="0"/>
          </a:p>
        </p:txBody>
      </p:sp>
      <p:sp>
        <p:nvSpPr>
          <p:cNvPr id="25" name="Text 22"/>
          <p:cNvSpPr/>
          <p:nvPr/>
        </p:nvSpPr>
        <p:spPr>
          <a:xfrm>
            <a:off x="9144000" y="4279392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del modelo (buena precisión)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22960" y="5897880"/>
            <a:ext cx="457200" cy="457200"/>
          </a:xfrm>
          <a:prstGeom prst="ellipse">
            <a:avLst/>
          </a:prstGeom>
          <a:solidFill>
            <a:srgbClr val="0F2A49"/>
          </a:solidFill>
          <a:ln w="17780">
            <a:solidFill>
              <a:srgbClr val="46D68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7" name="Image 1" descr="assets/ic_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6000750"/>
            <a:ext cx="251460" cy="2514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417320" y="5897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+ índice + alertas + dashboard, integrados y desplegados en internet.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_t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731520"/>
            <a:ext cx="10972800" cy="5394960"/>
          </a:xfrm>
          <a:prstGeom prst="roundRect">
            <a:avLst>
              <a:gd name="adj" fmla="val 2712"/>
            </a:avLst>
          </a:prstGeom>
          <a:solidFill>
            <a:srgbClr val="0F2A49"/>
          </a:solidFill>
          <a:ln w="17780">
            <a:solidFill>
              <a:srgbClr val="27C3A6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Shape 1"/>
          <p:cNvSpPr/>
          <p:nvPr/>
        </p:nvSpPr>
        <p:spPr>
          <a:xfrm>
            <a:off x="822960" y="1545336"/>
            <a:ext cx="384048" cy="41148"/>
          </a:xfrm>
          <a:prstGeom prst="rect">
            <a:avLst/>
          </a:prstGeom>
          <a:solidFill>
            <a:srgbClr val="27C3A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822960" y="12344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60704" y="173736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EA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Míralo funcionando</a:t>
            </a:r>
            <a:endParaRPr lang="en-US" sz="46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EA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tú mismo.</a:t>
            </a:r>
            <a:endParaRPr lang="en-US" sz="4600" dirty="0"/>
          </a:p>
        </p:txBody>
      </p:sp>
      <p:pic>
        <p:nvPicPr>
          <p:cNvPr id="7" name="Image 1" descr="assets/pul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520440"/>
            <a:ext cx="475488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41148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riesgo, predicción por municipio y alertas en tiempo real.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1097280" y="4846320"/>
            <a:ext cx="6217920" cy="658368"/>
          </a:xfrm>
          <a:prstGeom prst="roundRect">
            <a:avLst>
              <a:gd name="adj" fmla="val 50000"/>
            </a:avLst>
          </a:prstGeom>
          <a:solidFill>
            <a:srgbClr val="27C3A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6"/>
          <p:cNvSpPr/>
          <p:nvPr/>
        </p:nvSpPr>
        <p:spPr>
          <a:xfrm>
            <a:off x="1097280" y="484632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23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saludia-3fzk.onrender.com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8458200" y="1600200"/>
            <a:ext cx="2834640" cy="361188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2" name="Image 2" descr="assets/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528" y="1874520"/>
            <a:ext cx="2148840" cy="21488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58200" y="4160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2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Escanéalo y pruébalo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_t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905256"/>
            <a:ext cx="384048" cy="41148"/>
          </a:xfrm>
          <a:prstGeom prst="rect">
            <a:avLst/>
          </a:prstGeom>
          <a:solidFill>
            <a:srgbClr val="27C3A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822960" y="5943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86384" y="1051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A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Anticiparse 2 o 3 semanas salva vidas.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822960" y="2194560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1115568" y="2606040"/>
            <a:ext cx="731520" cy="731520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C6E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8" name="Image 1" descr="assets/ic_syring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27889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1168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Reforzar vacunación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2029968" y="294436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zonas de mayor riesgo antes del pico.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72200" y="2194560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6464808" y="2606040"/>
            <a:ext cx="731520" cy="731520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C6E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3" name="Image 2" descr="assets/ic_db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27889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6092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Preposicionar insumos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379208" y="294436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 y recursos donde se van a necesitar.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3977640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1115568" y="4389120"/>
            <a:ext cx="731520" cy="731520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C6E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8" name="Image 3" descr="assets/ic_users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8448" y="45720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01168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Movilizar personal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2029968" y="472744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brigadas y equipos hacia los municipios críticos.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172200" y="3977640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6464808" y="4389120"/>
            <a:ext cx="731520" cy="731520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C6E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3" name="Image 4" descr="assets/ic_siren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7688" y="457200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6092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a la comunidad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7379208" y="472744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temprana antes de que el brote crezca.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i="1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Convertimos un modelo técnico en una herramienta de decisión para el sistema de salud.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_t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905256"/>
            <a:ext cx="384048" cy="41148"/>
          </a:xfrm>
          <a:prstGeom prst="rect">
            <a:avLst/>
          </a:prstGeom>
          <a:solidFill>
            <a:srgbClr val="27C3A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822960" y="5943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SALUDIA SE DESTACA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86384" y="1051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A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típico vs. lo que hicimos.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12314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7C9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TÍPICO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214884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27C3A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6309360" y="2148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SALUDIA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2834640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0E274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1051560" y="283464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enfermedad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09360" y="2834640"/>
            <a:ext cx="5029200" cy="713232"/>
          </a:xfrm>
          <a:prstGeom prst="roundRect">
            <a:avLst>
              <a:gd name="adj" fmla="val 12821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6473952" y="3008376"/>
            <a:ext cx="365760" cy="365760"/>
          </a:xfrm>
          <a:prstGeom prst="ellipse">
            <a:avLst/>
          </a:prstGeom>
          <a:solidFill>
            <a:srgbClr val="0F2A49"/>
          </a:solidFill>
          <a:ln w="17780">
            <a:solidFill>
              <a:srgbClr val="46D68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4" name="Image 1" descr="assets/ic_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3081528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95160" y="283464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Multi-enfermedad: dengue y malaria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22960" y="3675888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0E274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3"/>
          <p:cNvSpPr/>
          <p:nvPr/>
        </p:nvSpPr>
        <p:spPr>
          <a:xfrm>
            <a:off x="1051560" y="367588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clima y casos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309360" y="3675888"/>
            <a:ext cx="5029200" cy="713232"/>
          </a:xfrm>
          <a:prstGeom prst="roundRect">
            <a:avLst>
              <a:gd name="adj" fmla="val 12821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5"/>
          <p:cNvSpPr/>
          <p:nvPr/>
        </p:nvSpPr>
        <p:spPr>
          <a:xfrm>
            <a:off x="6473952" y="3849624"/>
            <a:ext cx="365760" cy="365760"/>
          </a:xfrm>
          <a:prstGeom prst="ellipse">
            <a:avLst/>
          </a:prstGeom>
          <a:solidFill>
            <a:srgbClr val="0F2A49"/>
          </a:solidFill>
          <a:ln w="17780">
            <a:solidFill>
              <a:srgbClr val="46D68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0" name="Image 2" descr="assets/ic_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3922776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95160" y="367588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clima, casos, ambiente y vulnerabilidad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822960" y="4517136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0E274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18"/>
          <p:cNvSpPr/>
          <p:nvPr/>
        </p:nvSpPr>
        <p:spPr>
          <a:xfrm>
            <a:off x="1051560" y="4517136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"Caja negra"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309360" y="4517136"/>
            <a:ext cx="5029200" cy="713232"/>
          </a:xfrm>
          <a:prstGeom prst="roundRect">
            <a:avLst>
              <a:gd name="adj" fmla="val 12821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0"/>
          <p:cNvSpPr/>
          <p:nvPr/>
        </p:nvSpPr>
        <p:spPr>
          <a:xfrm>
            <a:off x="6473952" y="4690872"/>
            <a:ext cx="365760" cy="365760"/>
          </a:xfrm>
          <a:prstGeom prst="ellipse">
            <a:avLst/>
          </a:prstGeom>
          <a:solidFill>
            <a:srgbClr val="0F2A49"/>
          </a:solidFill>
          <a:ln w="17780">
            <a:solidFill>
              <a:srgbClr val="46D68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6" name="Image 3" descr="assets/ic_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4764024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95160" y="451713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alerta se explica en lenguaje simple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822960" y="5358384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0E274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3"/>
          <p:cNvSpPr/>
          <p:nvPr/>
        </p:nvSpPr>
        <p:spPr>
          <a:xfrm>
            <a:off x="1051560" y="535838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queda en el notebook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6309360" y="5358384"/>
            <a:ext cx="5029200" cy="713232"/>
          </a:xfrm>
          <a:prstGeom prst="roundRect">
            <a:avLst>
              <a:gd name="adj" fmla="val 12821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5"/>
          <p:cNvSpPr/>
          <p:nvPr/>
        </p:nvSpPr>
        <p:spPr>
          <a:xfrm>
            <a:off x="6473952" y="5532120"/>
            <a:ext cx="365760" cy="365760"/>
          </a:xfrm>
          <a:prstGeom prst="ellipse">
            <a:avLst/>
          </a:prstGeom>
          <a:solidFill>
            <a:srgbClr val="0F2A49"/>
          </a:solidFill>
          <a:ln w="17780">
            <a:solidFill>
              <a:srgbClr val="46D68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2" name="Image 4" descr="assets/ic_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5605272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995160" y="535838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Desplegado y funcionando en internet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_t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colombia_g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548640"/>
            <a:ext cx="2377440" cy="312724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509760" y="1280160"/>
            <a:ext cx="128016" cy="128016"/>
          </a:xfrm>
          <a:prstGeom prst="ellipse">
            <a:avLst/>
          </a:prstGeom>
          <a:solidFill>
            <a:srgbClr val="3FE0C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1"/>
          <p:cNvSpPr/>
          <p:nvPr/>
        </p:nvSpPr>
        <p:spPr>
          <a:xfrm>
            <a:off x="9875520" y="2011680"/>
            <a:ext cx="109728" cy="109728"/>
          </a:xfrm>
          <a:prstGeom prst="ellipse">
            <a:avLst/>
          </a:prstGeom>
          <a:solidFill>
            <a:srgbClr val="3FE0C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2"/>
          <p:cNvSpPr/>
          <p:nvPr/>
        </p:nvSpPr>
        <p:spPr>
          <a:xfrm>
            <a:off x="9326880" y="2468880"/>
            <a:ext cx="109728" cy="109728"/>
          </a:xfrm>
          <a:prstGeom prst="ellipse">
            <a:avLst/>
          </a:prstGeom>
          <a:solidFill>
            <a:srgbClr val="46D68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3"/>
          <p:cNvSpPr/>
          <p:nvPr/>
        </p:nvSpPr>
        <p:spPr>
          <a:xfrm>
            <a:off x="822960" y="969264"/>
            <a:ext cx="384048" cy="41148"/>
          </a:xfrm>
          <a:prstGeom prst="rect">
            <a:avLst/>
          </a:prstGeom>
          <a:solidFill>
            <a:srgbClr val="27C3A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4"/>
          <p:cNvSpPr/>
          <p:nvPr/>
        </p:nvSpPr>
        <p:spPr>
          <a:xfrm>
            <a:off x="822960" y="65836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FUTURO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86384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A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Pensado para escalar.</a:t>
            </a:r>
            <a:endParaRPr lang="en-US" sz="3400" dirty="0"/>
          </a:p>
        </p:txBody>
      </p:sp>
      <p:sp>
        <p:nvSpPr>
          <p:cNvPr id="10" name="Shape 6"/>
          <p:cNvSpPr/>
          <p:nvPr/>
        </p:nvSpPr>
        <p:spPr>
          <a:xfrm>
            <a:off x="822960" y="2148840"/>
            <a:ext cx="7040880" cy="841248"/>
          </a:xfrm>
          <a:prstGeom prst="roundRect">
            <a:avLst>
              <a:gd name="adj" fmla="val 10870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960120" y="2322576"/>
            <a:ext cx="493776" cy="493776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C6E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2" descr="assets/ic_bug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626" y="2441082"/>
            <a:ext cx="256764" cy="2567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5920" y="22585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enfermedades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3977640" y="225856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Zika, chikunguña y otras: la misma tubería, sin rehacer el sistema.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" y="3108960"/>
            <a:ext cx="7040880" cy="841248"/>
          </a:xfrm>
          <a:prstGeom prst="roundRect">
            <a:avLst>
              <a:gd name="adj" fmla="val 10870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1"/>
          <p:cNvSpPr/>
          <p:nvPr/>
        </p:nvSpPr>
        <p:spPr>
          <a:xfrm>
            <a:off x="960120" y="3282696"/>
            <a:ext cx="493776" cy="493776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C6E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7" name="Image 3" descr="assets/ic_radar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626" y="3401202"/>
            <a:ext cx="256764" cy="2567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45920" y="321868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tiempo real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3977640" y="321868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al INS y al IDEAM para predecir brotes actuales de 2026, no solo históricos.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822960" y="4069080"/>
            <a:ext cx="7040880" cy="841248"/>
          </a:xfrm>
          <a:prstGeom prst="roundRect">
            <a:avLst>
              <a:gd name="adj" fmla="val 10870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5"/>
          <p:cNvSpPr/>
          <p:nvPr/>
        </p:nvSpPr>
        <p:spPr>
          <a:xfrm>
            <a:off x="960120" y="4242816"/>
            <a:ext cx="493776" cy="493776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C6E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2" name="Image 4" descr="assets/ic_rocket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626" y="4361322"/>
            <a:ext cx="256764" cy="25676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45920" y="417880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Reentrenamiento automático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3977640" y="417880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mejora solo a medida que entran datos nuevos.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822960" y="5029200"/>
            <a:ext cx="7040880" cy="841248"/>
          </a:xfrm>
          <a:prstGeom prst="roundRect">
            <a:avLst>
              <a:gd name="adj" fmla="val 10870"/>
            </a:avLst>
          </a:prstGeom>
          <a:solidFill>
            <a:srgbClr val="0F2A49"/>
          </a:solidFill>
          <a:ln w="12700">
            <a:solidFill>
              <a:srgbClr val="24507C"/>
            </a:solidFill>
            <a:prstDash val="solid"/>
          </a:ln>
          <a:effectLst>
            <a:outerShdw blurRad="152400" dist="50800" dir="5400000" algn="bl" rotWithShape="0">
              <a:srgbClr val="05101F">
                <a:alpha val="5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19"/>
          <p:cNvSpPr/>
          <p:nvPr/>
        </p:nvSpPr>
        <p:spPr>
          <a:xfrm>
            <a:off x="960120" y="5202936"/>
            <a:ext cx="493776" cy="493776"/>
          </a:xfrm>
          <a:prstGeom prst="ellipse">
            <a:avLst/>
          </a:prstGeom>
          <a:solidFill>
            <a:srgbClr val="0F2A49"/>
          </a:solidFill>
          <a:ln w="17780">
            <a:solidFill>
              <a:srgbClr val="2C6E8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7" name="Image 5" descr="assets/ic_globe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626" y="5321442"/>
            <a:ext cx="256764" cy="25676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645920" y="513892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institucional</a:t>
            </a:r>
            <a:endParaRPr lang="en-US" sz="1550" dirty="0"/>
          </a:p>
        </p:txBody>
      </p:sp>
      <p:sp>
        <p:nvSpPr>
          <p:cNvPr id="29" name="Text 21"/>
          <p:cNvSpPr/>
          <p:nvPr/>
        </p:nvSpPr>
        <p:spPr>
          <a:xfrm>
            <a:off x="3977640" y="513892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directas a las secretarías de salud del territorio.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822960" y="6126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i="1" dirty="0">
                <a:solidFill>
                  <a:srgbClr val="3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prototipo a un sistema nacional de alerta temprana, multi-enfermedad y en tiempo real.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26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dark_t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colombia_g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640080"/>
            <a:ext cx="2743200" cy="3611880"/>
          </a:xfrm>
          <a:prstGeom prst="rect">
            <a:avLst/>
          </a:prstGeom>
        </p:spPr>
      </p:pic>
      <p:pic>
        <p:nvPicPr>
          <p:cNvPr id="4" name="Image 2" descr="assets/pul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892040"/>
            <a:ext cx="6583680" cy="1124712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22960" y="1097280"/>
            <a:ext cx="128016" cy="128016"/>
          </a:xfrm>
          <a:prstGeom prst="ellipse">
            <a:avLst/>
          </a:prstGeom>
          <a:solidFill>
            <a:srgbClr val="F0575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1"/>
          <p:cNvSpPr/>
          <p:nvPr/>
        </p:nvSpPr>
        <p:spPr>
          <a:xfrm>
            <a:off x="1060704" y="1097280"/>
            <a:ext cx="128016" cy="12801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2"/>
          <p:cNvSpPr/>
          <p:nvPr/>
        </p:nvSpPr>
        <p:spPr>
          <a:xfrm>
            <a:off x="1298448" y="1097280"/>
            <a:ext cx="128016" cy="128016"/>
          </a:xfrm>
          <a:prstGeom prst="ellipse">
            <a:avLst/>
          </a:prstGeom>
          <a:solidFill>
            <a:srgbClr val="F6C54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3"/>
          <p:cNvSpPr/>
          <p:nvPr/>
        </p:nvSpPr>
        <p:spPr>
          <a:xfrm>
            <a:off x="1536192" y="1097280"/>
            <a:ext cx="128016" cy="128016"/>
          </a:xfrm>
          <a:prstGeom prst="ellipse">
            <a:avLst/>
          </a:prstGeom>
          <a:solidFill>
            <a:srgbClr val="46D68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4"/>
          <p:cNvSpPr/>
          <p:nvPr/>
        </p:nvSpPr>
        <p:spPr>
          <a:xfrm>
            <a:off x="786384" y="18288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EA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</a:t>
            </a:r>
            <a:r>
              <a:rPr lang="en-US" sz="5400" b="1" dirty="0">
                <a:solidFill>
                  <a:srgbClr val="9DB4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reaccionar</a:t>
            </a:r>
            <a:r>
              <a:rPr lang="en-US" sz="5400" b="1" dirty="0">
                <a:solidFill>
                  <a:srgbClr val="EA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a  </a:t>
            </a:r>
            <a:r>
              <a:rPr lang="en-US" sz="5400" b="1" dirty="0">
                <a:solidFill>
                  <a:srgbClr val="3FE0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anticipar</a:t>
            </a:r>
            <a:r>
              <a:rPr lang="en-US" sz="5400" b="1" dirty="0">
                <a:solidFill>
                  <a:srgbClr val="EA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5400" dirty="0"/>
          </a:p>
        </p:txBody>
      </p:sp>
      <p:sp>
        <p:nvSpPr>
          <p:cNvPr id="10" name="Text 5"/>
          <p:cNvSpPr/>
          <p:nvPr/>
        </p:nvSpPr>
        <p:spPr>
          <a:xfrm>
            <a:off x="822960" y="32004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SaludIA convierte datos de salud pública en decisiones que llegan a tiempo.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822960" y="4160520"/>
            <a:ext cx="6035040" cy="658368"/>
          </a:xfrm>
          <a:prstGeom prst="roundRect">
            <a:avLst>
              <a:gd name="adj" fmla="val 50000"/>
            </a:avLst>
          </a:prstGeom>
          <a:solidFill>
            <a:srgbClr val="0F2A49"/>
          </a:solidFill>
          <a:ln w="15240">
            <a:solidFill>
              <a:srgbClr val="27C3A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2" name="Image 3" descr="assets/ic_cloud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315968"/>
            <a:ext cx="347472" cy="3474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54480" y="416052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saludia-3fzk.onrender.com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   </a:t>
            </a:r>
            <a:r>
              <a:rPr lang="en-US" sz="1500" dirty="0">
                <a:solidFill>
                  <a:srgbClr val="9D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· Kevin · María José · Valeria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941</Words>
  <Application>Microsoft Office PowerPoint</Application>
  <PresentationFormat>Panorámica</PresentationFormat>
  <Paragraphs>137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Equipo SaludIA</dc:creator>
  <cp:lastModifiedBy>MARIA JOSE RAMIREZ MONTERO</cp:lastModifiedBy>
  <cp:revision>2</cp:revision>
  <dcterms:created xsi:type="dcterms:W3CDTF">2026-07-13T22:10:13Z</dcterms:created>
  <dcterms:modified xsi:type="dcterms:W3CDTF">2026-07-13T22:48:50Z</dcterms:modified>
</cp:coreProperties>
</file>